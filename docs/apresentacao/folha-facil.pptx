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libri"/>
              </a:rPr>
              <a:t>Horas por rodada mensal (120 funcionários)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</c:v>
                </c:pt>
              </c:strCache>
            </c:strRef>
          </c:tx>
          <c:spPr>
            <a:solidFill>
              <a:srgbClr val="9AA7BC"/>
            </a:solidFill>
            <a:effectLst/>
          </c:spPr>
          <c:invertIfNegative val="0"/>
          <c:dLbls>
            <c:numFmt formatCode="0.0&quot;h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Guardião Sepog</c:v>
                  </c:pt>
                  <c:pt idx="1">
                    <c:v>Infrequência SME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a ferramenta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h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Guardião Sepog</c:v>
                  </c:pt>
                  <c:pt idx="1">
                    <c:v>Infrequência SME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3.1</c:v>
                </c:pt>
                <c:pt idx="1">
                  <c:v>2</c:v>
                </c:pt>
              </c:numCache>
            </c:numRef>
          </c:val>
        </c:ser>
        <c:dLbls>
          <c:numFmt formatCode="0.0&quot;h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4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8859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8859B"/>
                    </a:solidFill>
                    <a:latin typeface="Arial"/>
                  </a:rPr>
                  <a:t>horas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85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C485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Folha Facil e um site estatico com duas ferramentas de departamento pessoal. Nada e enviado para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de partida: e um site estatico, roda no navegador, e o processamento local e uma exigencia de LGPD, nao um detalhe tecnico.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ferramenta resolve um documento diferente. Nao sao duas versoes da mesma coisa.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passos. O passo 5 e o que diferencia: a ferramenta confere o proprio trabalho antes de exportar.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superficies mostram o numero cru (tela e TXT) e uma mostra o tratado (planilha). E deliberado.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de atestado por escala. Rejeicao na extracao, nao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JORNADA vazia e o criterio de rejeicao no 12x36. Substitui o filtro de fim de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a palavra FALTA, por igualdade. Falta justificada e abonada ficam de fora de proposito.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 tem precedencia. F2 e a regra do porteiro. F3 e explicitamente nao fazer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DSR nao acompanha o numero de faltas no Convencional: e uma por semana atingida.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Trava de seguranca: as regras so rodam sobre leitura confirmada. Estado divergente cai para o total impresso.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passos. Destaque para a deducao do mes de referencia, que e o que sustenta as regras de dia da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 tem precedencia sobre tudo. O filtro dos 31 e uma funcionalidade separada, de visualizacao.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R2 e o espelho da F2 do Guardiao, mas neste programa o limite do mes cheio e 31, nao 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R3 alcanca os tres tipos. O calendario vem do navegador e a divergencia de mes vira pergunta, nao suposicao.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R4. A excecao de fim de semana nao decide pelo usuario: ela conta e marca para verificacao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Rastreabilidade: quem audita o numero da folha consegue ir do .md ate a funcao.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alguem comparar as duas planilhas e achar divergencia, este slide explica por que ela e esperada.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Honestidade sobre a origem dos numeros: sao estimativas parametrizadas, nao medicao.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26h manual contra 5h com a ferramenta. A diferenca e aproximadamente 21h por rodada mensal.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Traduz as 21h por rodada em unidades do dia a dia e emenda no ganho de qualidade.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ganhos qualitativos. O quarto e requisito legal, nao conveniencia.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Limitacoes conhecidas, ditas de frente. E o que mantem a confianca no resto.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Repete as tres mensagens principais do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120640" cy="5120640"/>
          </a:xfrm>
          <a:prstGeom prst="ellipse">
            <a:avLst/>
          </a:prstGeom>
          <a:solidFill>
            <a:srgbClr val="2E3A73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1A2150"/>
          </a:solidFill>
          <a:ln w="12700">
            <a:solidFill>
              <a:srgbClr val="1A21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9B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PESSOAL - SEPOG / SME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Folha Fácil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ferramentas, explicadas do começo ao fim: o que cada uma faz, como cada regra escrita nos arquivos .md é aplicada e quanto tempo elas devolvem no dia de trabalho.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2E3A73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645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Guardião Sepog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 frequências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452628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2E3A73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4645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Infrequência SME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de ponto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processado no navegador — nenhum arquivo sai do computador.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Folha Fácil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572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site, duas ferramentas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95681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seletor no topo da página troca entre elas. Cada uma vive em seu próprio arquivo, para o código de uma nunca esbarrar no da outra.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30540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instalado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438144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página estática. Abre no navegador do trabalho, sem build, sem login, sem banco de dados.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59028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590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5354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arquivo sai daqui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91947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Leitura, cálculo e geração acontecem dentro do navegador. Nenhuma requisição a terceiros — fontes e bibliotecas ficam no próprio domínio.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78040" y="1572768"/>
            <a:ext cx="4370832" cy="4480560"/>
          </a:xfrm>
          <a:prstGeom prst="roundRect">
            <a:avLst>
              <a:gd name="adj" fmla="val 2092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2286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ponto tem nome, CPF e atestado médico — dado pessoal sensível de saúde.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local significa que esses dados não trafegam nem ficam guardados em lugar nenhum.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política de segurança do site (CSP) bloqueia qualquer chamada externa.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e PDFs reais estão bloqueados no controle de versão, para nunca subirem por engano.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ferramentas, lado a lado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193792" cy="4572000"/>
          </a:xfrm>
          <a:prstGeom prst="roundRect">
            <a:avLst>
              <a:gd name="adj" fmla="val 2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5193792" cy="841248"/>
          </a:xfrm>
          <a:prstGeom prst="roundRect">
            <a:avLst>
              <a:gd name="adj" fmla="val 1087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276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Guardião Sepog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842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padrão · index.html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420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706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 frequências (o espelho do ponto)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31012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ELA LÊ E DECIDE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54787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Atestados (ATM) dia a dia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Faltas lidas da coluna OBSERVAÇÃO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 por dia e saldo de horas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lida do CARGO no cabeçalho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04748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2852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na tela · PDF anotado · Planilha XLSX · Relatório TXT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55080" y="1508760"/>
            <a:ext cx="5193792" cy="4572000"/>
          </a:xfrm>
          <a:prstGeom prst="roundRect">
            <a:avLst>
              <a:gd name="adj" fmla="val 200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508760"/>
            <a:ext cx="5193792" cy="841248"/>
          </a:xfrm>
          <a:prstGeom prst="roundRect">
            <a:avLst>
              <a:gd name="adj" fmla="val 1087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16276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Infrequência SME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9842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aba · infrequencia.html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5420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7706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mensal de ponto (.xlsx, .xlsm ou .csv)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31012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ELA LÊ E DECIDE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354787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marcados F (falta), A (atestado), D (TRE)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o recontado com o declarado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deduzida pela função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de referência e dia da semana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504748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52852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no modelo da folha · Planilha detalhada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2362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8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programas diferentes, com regras próprias: os números podem divergir de propósito.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GUARDIÃO SEPOG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do arquivo, passo a passo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029968" cy="3246120"/>
          </a:xfrm>
          <a:prstGeom prst="roundRect">
            <a:avLst>
              <a:gd name="adj" fmla="val 4505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084832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7249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 PDF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310128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lê o PDF direto no navegador e separa cada funcionário em uma página.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70048" y="32461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8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94076" y="1874520"/>
            <a:ext cx="2029968" cy="3246120"/>
          </a:xfrm>
          <a:prstGeom prst="roundRect">
            <a:avLst>
              <a:gd name="adj" fmla="val 4505"/>
            </a:avLst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31820" y="2084832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3182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31820" y="27249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a tabela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131820" y="3310128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 as onze colunas do documento pela posição do texto: DIA, entradas e saídas, SALDO, LOTAÇÃO, JORNADA e OBSERVAÇÃO.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24044" y="32461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8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48072" y="1874520"/>
            <a:ext cx="2029968" cy="3246120"/>
          </a:xfrm>
          <a:prstGeom prst="roundRect">
            <a:avLst>
              <a:gd name="adj" fmla="val 4505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85816" y="2084832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85816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85816" y="27249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a escala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385816" y="3310128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CARGO do cabeçalho para saber se o funcionário é 12×36 ou Convencional.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2461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8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02068" y="1874520"/>
            <a:ext cx="2029968" cy="3246120"/>
          </a:xfrm>
          <a:prstGeom prst="roundRect">
            <a:avLst>
              <a:gd name="adj" fmla="val 4505"/>
            </a:avLst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9812" y="2084832"/>
            <a:ext cx="475488" cy="475488"/>
          </a:xfrm>
          <a:prstGeom prst="ellipse">
            <a:avLst/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39812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639812" y="27249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as regras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639812" y="3310128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Atestado, falta, DSR e atraso — cada um por um caminho próprio, sem nada em comum.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432036" y="32461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8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56064" y="1874520"/>
            <a:ext cx="2029968" cy="3246120"/>
          </a:xfrm>
          <a:prstGeom prst="roundRect">
            <a:avLst>
              <a:gd name="adj" fmla="val 4505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93808" y="2084832"/>
            <a:ext cx="475488" cy="475488"/>
          </a:xfrm>
          <a:prstGeom prst="ellipse">
            <a:avLst/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93808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893808" y="27249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e exporta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9893808" y="3310128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o que leu com os totais impressos no rodapé e só então gera os arquivos.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4864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qualquer passo falhar — coluna não encontrada, cabeçalho ilegível — a ferramenta não devolve zero em silêncio: ela avisa. Esse é o princípio que sustenta tudo o que vem a seguir.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GUARDIÃO SEPOG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saídas — e para que serve cada uma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na tela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43400" y="1828800"/>
            <a:ext cx="1371600" cy="320040"/>
          </a:xfrm>
          <a:prstGeom prst="roundRect">
            <a:avLst>
              <a:gd name="adj" fmla="val 4571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4340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86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número CRU impresso no PDF — sem regra de escala, sem DSR. É com ele que você compara o documento em mãos. Expandir a linha revela as datas de atestado, de falta e de atraso.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7512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TXT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0058400" y="1828800"/>
            <a:ext cx="1371600" cy="320040"/>
          </a:xfrm>
          <a:prstGeom prst="roundRect">
            <a:avLst>
              <a:gd name="adj" fmla="val 4571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286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lógica da tela: repete o que o PDF diz, para servir de registro simples do que foi lido.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13048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Planilha XLSX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343400" y="4069080"/>
            <a:ext cx="1371600" cy="320040"/>
          </a:xfrm>
          <a:prstGeom prst="roundRect">
            <a:avLst>
              <a:gd name="adj" fmla="val 45714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4069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para a folha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526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sim entra a QUANTIDADE tratada pelas regras de escala, a coluna DSR e, quando necessário, a coluna Conferência com o aviso.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813048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7512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anotado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10058400" y="4069080"/>
            <a:ext cx="1371600" cy="320040"/>
          </a:xfrm>
          <a:prstGeom prst="roundRect">
            <a:avLst>
              <a:gd name="adj" fmla="val 4571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0" y="4069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526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documento original com as marcações do que foi identificado, para anexar ao processo.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Misturar o número cru com o número tratado tiraria justamente a chance de conferir. Por isso eles vivem em lugares separados.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REGRA_VALIDACAO_ESCALA.MD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Atestado: o fim de semana do Convencional não conta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atestado médico registrado em sábado ou domingo não entra na conta de quem trabalha de segunda a sexta — o funcionário não trabalharia nesse dia.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95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CONVENCIONAL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7889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2724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B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72768" y="2697480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72768" y="27889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12724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B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05456" y="2697480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05456" y="27889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505456" y="312724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B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38144" y="2697480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38144" y="27889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38144" y="312724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B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70832" y="2697480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0832" y="27889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370832" y="312724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B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2697480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D5DCE5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0" y="27889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312724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36208" y="2697480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D5DCE5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36208" y="27889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312724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886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12×36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187952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2793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6177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572768" y="4187952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572768" y="42793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572768" y="46177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05456" y="4187952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505456" y="42793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2505456" y="46177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38144" y="4187952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38144" y="42793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438144" y="46177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70832" y="4187952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370832" y="42793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370832" y="46177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303520" y="4187952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03520" y="42793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303520" y="46177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36208" y="4187952"/>
            <a:ext cx="804672" cy="868680"/>
          </a:xfrm>
          <a:prstGeom prst="roundRect">
            <a:avLst>
              <a:gd name="adj" fmla="val 1136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36208" y="42793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236208" y="46177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523036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12×36 pode trabalhar qualquer dia da semana, então nenhum dia é rejeitado por aí — a regra dele é outra (próximo slide).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635240" y="1536192"/>
            <a:ext cx="3913632" cy="4434840"/>
          </a:xfrm>
          <a:prstGeom prst="roundRect">
            <a:avLst>
              <a:gd name="adj" fmla="val 2336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7936992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detalhe que importa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7936992" y="22128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rejeição acontece durante a leitura do PDF, não depois.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7936992" y="27889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Convencional, um atestado de sábado nunca chega a ser registrado — ele não é contado e depois descartado, ele simplesmente não entra.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mantém a tela, o relatório e a planilha contando a mesma coisa, sem risco de uma superfície mostrar um número que a outra já filtrou.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REGRA_JORNADA_12X36.MD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Atestado no 12×36: só conta com a JORNADA preenchida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porteiro em 12×36 não existe filtro de fim de semana. O que decide é outra coisa: a coluna JORNADA da mesma linha. Se ela está vazia, aquele dia não era dia de trabalho — e o atestado não entra na conta.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87168"/>
          <a:ext cx="6858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1371600"/>
                <a:gridCol w="3017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JORNADA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20/05 (Sex)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 — jornada preenchida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21/05 (Sáb)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(vazio)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conta — sem jornada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22/05 (Dom)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 — "Folga" é conteúdo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23/05 (Seg)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 — fim de semana não atrapalha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24/05 (Ter)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(vazio)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conta — sem jornada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800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atestados encontrados   →   3 contabilizados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863840" y="2487168"/>
            <a:ext cx="3685032" cy="3200400"/>
          </a:xfrm>
          <a:prstGeom prst="roundRect">
            <a:avLst>
              <a:gd name="adj" fmla="val 2857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156448" y="2724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assim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156448" y="31546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12×36 o funcionário não trabalha todos os dias — trabalha um, folga outro.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é o que diz se aquele dia era dele.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conteúdo vale: "12x36", "Folga", o que estiver escrito. O que reprova é a célula vazia.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788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Convencional e 12×36 seguem caminhos isolados no código: mexer em um não altera o outro.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REGRA_FALTAS_DSR.MD · ETAPA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vem da coluna OBSERVAÇÃO — e só a palavra exata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falta em geral não deixa rastro nas colunas de marcação: o dia fica em branco. Ela aparece escrita, por extenso, na coluna OBSERVAÇÃO — e é de lá que a ferramenta lê, dia a dia.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E6F0E9"/>
          </a:solidFill>
          <a:ln w="12700">
            <a:solidFill>
              <a:srgbClr val="E6F0E9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6517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COMO FALTA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657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F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comparação é por igualdade, nunca por "contém". Só a palavra sozinha, limpa de acento, espaço extra e pontuação final.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2395728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3E7E4"/>
          </a:solidFill>
          <a:ln w="12700">
            <a:solidFill>
              <a:srgbClr val="F3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19672" y="26517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CONTA (TEXTOS REAIS DO DOCUMENTO)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999232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JUSTIFICADA   ·   FALTA ABONADA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ATESTADO 2 DIAS*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 (Dia do Trabalho)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BATIDAS FORA DA MARGEM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ABONADO COM ACORDO DA DIREÇÃO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4846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7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"contém FALTA" bastasse, a falta justificada entraria na folha.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788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leitura também descarta sozinha tudo o que está abaixo do último dia — legendas, saldo de horas, total de faltas e o bloco de observações do rodapé nunca viram um dia de falta.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REGRA_FALTAS_DSR.MD · ETAPA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Contagem por escala: F1, F2 e F3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são avaliadas nesta ordem. A primeira que se aplicar encerra o cálculo.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6766560" cy="1261872"/>
          </a:xfrm>
          <a:prstGeom prst="roundRect">
            <a:avLst>
              <a:gd name="adj" fmla="val 7246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67712"/>
            <a:ext cx="603504" cy="603504"/>
          </a:xfrm>
          <a:prstGeom prst="ellipse">
            <a:avLst/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2677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20848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inteiro (29 ou mais)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664208" y="2414016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tem 29 faltas ou mais sai com o número integral, sem passar pelas outras regras e sem DSR. O corte é 29 e não 31 porque uma folga ou um dia trabalhado no começo do mês já derrubam o total.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6766560" cy="1261872"/>
          </a:xfrm>
          <a:prstGeom prst="roundRect">
            <a:avLst>
              <a:gd name="adj" fmla="val 7246"/>
            </a:avLst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685032"/>
            <a:ext cx="603504" cy="6035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6850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5021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12×36: dia sim, dia não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664208" y="3831336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cada sequência de dias corridos, conta o 1º, pula o 2º, conta o 3º. A sequência recomeça quando há um dia sem falta no meio. Falta isolada conta sempre.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773168"/>
            <a:ext cx="6766560" cy="1261872"/>
          </a:xfrm>
          <a:prstGeom prst="roundRect">
            <a:avLst>
              <a:gd name="adj" fmla="val 7246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5102352"/>
            <a:ext cx="603504" cy="6035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51023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64208" y="4919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Convencional: tudo conta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664208" y="5248656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filtro de fim de semana aqui. O documento de ponto já só marca falta em dia de trabalho — descartar sábado seria corrigir um problema que ele não tem.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1938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 na prática — 12×36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377440"/>
          <a:ext cx="37764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353312"/>
                <a:gridCol w="731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 marcados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7, 8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5, 6, 7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5, 12, 19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5, 12, 19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7, 8, 13, 14, 23, 24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7, 13, 23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 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(F1)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7772400" y="4709160"/>
            <a:ext cx="3776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"Quem trabalha dia sim, dia não só pode faltar dia sim, dia não."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788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planilha detalhada, os dias pulados aparecem na coluna "Dias não contados" — dá para conferir a decisão linha a linha.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REGRA_FALTAS_DSR.MD · ETAPA 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DSR: o descanso semanal que a falta derruba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DSR é calculada só sobre os dias que sobraram depois da contagem por escala — e só para faltas. Atestado e TRE não geram DSR.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359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12×36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24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DSR por falta contada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7355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três faltas corridas viraram duas pela F2, saem duas DSR.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7408" y="2148840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81728" y="2359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Convencional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724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DSR por semana com falta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327355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importa se foram uma ou quatro faltas naquela semana: a DSR é uma.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74736" y="2148840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49056" y="2359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8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Mês inteiro (F1)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49056" y="2724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DSR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49056" y="327355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com o mês cheio fica fora do cálculo — a coluna sai vazia.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3159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— Convencional, seis faltas no mês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73168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68680"/>
                <a:gridCol w="868680"/>
                <a:gridCol w="868680"/>
                <a:gridCol w="868680"/>
                <a:gridCol w="868680"/>
                <a:gridCol w="868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da falta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06-Qua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15-Sex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20-Qua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22-Sex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27-Qua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29-Sex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(segunda)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640080" y="56235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8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QUANTIDADE 6   ·   DSR 4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7863840" y="4315968"/>
            <a:ext cx="3685032" cy="1737360"/>
          </a:xfrm>
          <a:prstGeom prst="roundRect">
            <a:avLst>
              <a:gd name="adj" fmla="val 5263"/>
            </a:avLst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156448" y="4553712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faltas, quatro DSR — porque 20 e 22 caem na mesma semana, e 27 e 29 também. Sábado e domingo pertencem à semana da segunda anterior.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REGRA_FALTAS_DSR.MD · ETAPA 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trava de segurança: a regra só roda se a leitura fechar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aplicar qualquer regra de escala, a ferramenta compara o que contou na coluna OBSERVAÇÃO com o TOTAL DE FALTAS impresso no rodapé do PDF. Os dois são números crus. Se não baterem, ela não reduz nada.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69494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63240"/>
                <a:gridCol w="123444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acontece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rodapé foi lido e bate com o contado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as regras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rodapé foi lido e não bate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impresso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sem-conferência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PDF não traz TOTAL DE FALTAS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as regras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sem-leitura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coluna ou o cabeçalho não foram identificados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impresso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período-divergente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dia da semana impresso não bate com o mês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as regras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331720"/>
            <a:ext cx="3685032" cy="3200400"/>
          </a:xfrm>
          <a:prstGeom prst="roundRect">
            <a:avLst>
              <a:gd name="adj" fmla="val 2857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156448" y="2578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pior caso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56448" y="29992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 ao número impresso, sem escala e sem DSR — com um aviso visível na planilha. Nunca menos que isso.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156448" y="40233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leitura em que não se confia não pode reduzir um número que vai para a folha de pagamento. A DSR fica vazia, não zero: vazio diz "não sei", zero diz "não há".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7607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788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conferência compara impresso × contado — nunca com a QUANTIDADE final. No 12×36, impresso 6 e quantidade 3 é a regra funcionando, não erro.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INFREQUÊNCIA SME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da planilha, passo a passo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6537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9202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a planilha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468880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 sozinha o cabeçalho e as colunas de dia (01/ago, 02/ago…), além de CPF, função, empresa e lotação.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7408" y="1627632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86537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19202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Reconta e confere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468880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Reconta os dias marcados F, A e D e compara com os totais que a própria planilha declara.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74736" y="1627632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186537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30768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015984" y="19202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Deduz a escala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2468880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função: porteiro (e porteiro diurno/noturno) é 12×36; todas as outras funções são Convencional.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67912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105656"/>
            <a:ext cx="457200" cy="457200"/>
          </a:xfrm>
          <a:prstGeom prst="ellipse">
            <a:avLst/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1605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o calendário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709160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mês de referência é sempre o anterior ao atual. Com mês, ano e dia, o navegador calcula o dia da semana.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07408" y="3867912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4105656"/>
            <a:ext cx="457200" cy="457200"/>
          </a:xfrm>
          <a:prstGeom prst="ellipse">
            <a:avLst/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48656" y="41605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R1 a R4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4709160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à QUANTIDADE e à DSR de cada funcionário, guardando também os dias que não contaram.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74736" y="3867912"/>
            <a:ext cx="3493008" cy="1920240"/>
          </a:xfrm>
          <a:prstGeom prst="roundRect">
            <a:avLst>
              <a:gd name="adj" fmla="val 4762"/>
            </a:avLst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0768" y="4105656"/>
            <a:ext cx="457200" cy="457200"/>
          </a:xfrm>
          <a:prstGeom prst="ellipse">
            <a:avLst/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30768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015984" y="41605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as planilhas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30768" y="4709160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da folha e detalhada, com filtros de empresa, tipo, escala e ausência do mês completo.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4 é o mais delicado: a planilha traz "01/ago" mas não traz o ano. Se a sigla do cabeçalho discordar do mês esperado, a ferramenta não gera nada sem perguntar qual é o mês verdadeiro do arquivo.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DOCS/REGRAS · R1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Mês cheio: 31 sai 31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primeira verificação de todas. Se o funcionário tem 31 faltas ou 31 atestados no mês, a QUANTIDADE é 31 e nenhuma regra de escala é aplicada àquela linha.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2374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4871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para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81635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Faltas (F) e atestados (A). TRE não entra.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94176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6576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98678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seguintes reduzem o número. Quem passou o mês inteiro afastado precisa continuar saindo como 31.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646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8280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limite é o número 31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515721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"mês inteiro". Em um mês de 30 dias, 30 atestados não acionam a R1 — é um ajuste consciente, anotado na documentação.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0" y="1508760"/>
            <a:ext cx="3867912" cy="4480560"/>
          </a:xfrm>
          <a:prstGeom prst="roundRect">
            <a:avLst>
              <a:gd name="adj" fmla="val 2364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973568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filtro dos 31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973568" y="221284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da regra, existe um jeito de enxergar e exportar só quem chegou a 31 ocorrências no mês, somando faltas + atestados: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73568" y="31546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aba "Ausência mês completo" na tela de Conferência;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filtro de mesmo nome na barra de ações, que limita as duas planilhas a esses funcionários — e marca o arquivo com _SO31.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DOCS/REGRAS · R2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12×36: a falta do dia seguinte não conta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só para faltas e só para quem é 12×36 (porteiro, porteiro diurno, porteiro noturno). Dentro de cada sequência de dias corridos: conta o 1º, pula o 2º, conta o 3º, pula o 4º. A sequência recomeça quando aparece um dia sem falta no meio.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50592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73736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Faltas marcadas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contadas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5, 6, 7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5, 7, 9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5, 7, 9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5, 6, 7, 8, 9, 10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5, 7, 9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6, 8, 10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5, 6, 8, 9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 31 (mês cheio)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8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(R1)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450592"/>
            <a:ext cx="3685032" cy="3017520"/>
          </a:xfrm>
          <a:prstGeom prst="roundRect">
            <a:avLst>
              <a:gd name="adj" fmla="val 3030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156448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você confere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56448" y="3127248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planilha detalhada, a coluna Dias lista só os dias que contaram e a coluna Dias não contados lista os que a regra pulou.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descartado em silêncio: a decisão fica escrita ao lado do número.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120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788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Atestado e TRE continuam contando dia a dia — a R2 não os alcança.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DOCS/REGRAS · R3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Convencional: só conta de segunda a sexta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a regra alcança falta, atestado e TRE. Para quem é Convencional, o que cair em sábado ou domingo não conta. Feriado conta normal — segunda a sexta é sempre dia útil para a regra.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957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junho, faltas do dia 1 ao 29 (dia 1 é segunda)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61488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Faltas marcadas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contadas (fins de semana)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 29 (29 dias)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6, 7, 13, 14, 20, 21, 27, 28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 30 (mês de 30 dias)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6, 7, 13, 14, 20, 21, 27, 28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39502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 na segunda linha: 30 faltas em um mês de 30 dias não aciona a R1, porque o gatilho é o número 31.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5902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de onde vem o dia da semana?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9834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calendário do próprio navegador — não de tabela, não da internet. Mês de referência é sempre o anterior ao atual; o ano é o corrente, exceto em janeiro, quando a planilha é de dezembro. A sigla do cabeçalho serve só para conferir.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863840" y="1481328"/>
            <a:ext cx="3685032" cy="4572000"/>
          </a:xfrm>
          <a:prstGeom prst="roundRect">
            <a:avLst>
              <a:gd name="adj" fmla="val 2481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156448" y="1755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mês não bate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156448" y="21762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sigla do cabeçalho indicar um mês diferente do esperado, a ferramenta para e pergunta antes de gerar qualquer coisa: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56448" y="3127248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39328" y="331012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cabeçalho indica junho, mas o mês esperado é agosto. Qual é o mês verdadeiro deste arquivo?"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156448" y="46177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vale para o arquivo aberto. Trocou de arquivo, a verificação recomeça. Um aviso separado alerta quando o número de colunas de dia não bate com o número de dias do mês.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DOCS/REGRAS · R4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DSR e a exceção do fim de semana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943600" cy="1051560"/>
          </a:xfrm>
          <a:prstGeom prst="roundRect">
            <a:avLst>
              <a:gd name="adj" fmla="val 8696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682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DSR por semana (seg a sex) com pelo menos uma falta contada — não importa quantas foram.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943600" cy="1051560"/>
          </a:xfrm>
          <a:prstGeom prst="roundRect">
            <a:avLst>
              <a:gd name="adj" fmla="val 8696"/>
            </a:avLst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889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12×36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1868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DSR por falta contada, já depois do corte da R2. Não olha semana nem fim de semana.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50208"/>
            <a:ext cx="5943600" cy="1051560"/>
          </a:xfrm>
          <a:prstGeom prst="roundRect">
            <a:avLst>
              <a:gd name="adj" fmla="val 8696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faltas (R1)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2569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DSR — a coluna sai vazia.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230368"/>
          <a:ext cx="5943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554480"/>
                <a:gridCol w="14630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falta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faltas na mesma semana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faltas em semanas diferentes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12×36 — faltas 5, 6, 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(R2)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903720" y="1536192"/>
            <a:ext cx="4645152" cy="4745736"/>
          </a:xfrm>
          <a:prstGeom prst="roundRect">
            <a:avLst>
              <a:gd name="adj" fmla="val 1969"/>
            </a:avLst>
          </a:prstGeom>
          <a:solidFill>
            <a:srgbClr val="F6EFE2"/>
          </a:solidFill>
          <a:ln w="12700">
            <a:solidFill>
              <a:srgbClr val="F6EF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205472" y="1810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exceção que pede conferência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205472" y="22860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R3 normalmente descarta falta de sábado e domingo para o Convencional. Mas se TODAS as faltas do funcionário caírem em fim de semana, algo está estranho — e descartar tudo apagaria o caso em vez de mostrá-lo.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205472" y="3675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Nesse caso a ferramenta: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205472" y="400507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essas faltas na QUANTIDADE;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a DSR correspondente;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na coluna Observação: "Faltas apenas em fim de semana (dias 8, 9) — verificar".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205472" y="5532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uma falta em dia útil para a exceção não valer: aí os fins de semana voltam a ser descartados.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cada arquivo .md vira código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regra tem um arquivo em linguagem simples e um lugar exato no código. Os dois andam juntos — e essa é uma regra de processo, não uma recomendação.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920240"/>
                <a:gridCol w="5394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é aplicado no 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docs/regras/REGRAS.md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Infrequência SME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diasContados() e quantidadeFinal() — R1, R2 e R3 na ordem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docs/regras/regra-escala-convencional.md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Infrequência SME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mesAnterior(), aplicarCalendario(), confirmarMes() e o bloco R3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docs/regras/regra-dsr.md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Infrequência SME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dsrDe() e a exceção de fim de semana em diasContados()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docs/REGRA_VALIDACAO_ESCALA.md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Guardião Sepog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validateAtmsByScale(), chamada durante a extração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docs/REGRA_JORNADA_12x36.md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Guardião Sepog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validateAtm12x36ByJornada(), chamada depois da extração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docs/REGRA_FALTAS_DSR.md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Guardião Sepog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readFaltas(), contarFaltasPorEscala(), dsrDeFaltas(), resolverFaltas()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docs/LIMITACOES_CONHECIDAS.md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duas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Divergências conhecidas e a medição que falta para decidir cada uma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3949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6EFE2"/>
          </a:solidFill>
          <a:ln w="12700">
            <a:solidFill>
              <a:srgbClr val="F6EF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regra nova entra no código e no arquivo .md no mesmo commit. Documentação que contradiz o código é pior que documentação nenhuma.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se parecem, mas não são iguais — de propósito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documentos de origem são diferentes, então as regras também são. Os números podem divergir sem que nenhuma das duas esteja errada.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21408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840480"/>
                <a:gridCol w="3840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Guardião Sepog (PDF)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Infrequência SME (planilha)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cheio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ou mais faltas já vale como mês inteiro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o número exato 31 aciona a regra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em fim de semana (Convencional)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 — o documento só marca falta em dia de trabalho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conta, salvo a exceção de "só fim de semana"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Atestado em fim de semana (Convencional)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rejeitado ainda na leitura do 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conta pela R3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Atestado no 12×36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a coluna JORNADA preenchida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 dia a dia, sem a regra de dia sim/dia 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Trava de conferência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 com o TOTAL DE FALTAS do rodapé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 o recontado com as colunas declaradas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feita em uma não atravessa para a outra. São dois programas separados, inclusive no código — não compartilham nenhuma função.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TEMPO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cálculo é feito — e com quais premissas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a seguir saem de uma conta simples — troque as premissas pelas suas e refaça a estimativa.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199339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Economia  =  N × (tempo manual por funcionário  −  tempo com a ferramenta por funcionário)  −  tempo fixo de operação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906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Premissas usadas (ajuste para a sua realidade)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93008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a ferramenta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Guardião Sepog — por funcionário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 (ler a página, contar ATM e faltas, ver a escala, calcular a DSR, digitar)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min (só conferir o que saiu)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Infrequência SME — por funcionário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 (recontar a linha, aplicar fim de semana e dia sim/dia não, digitar)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 (só conferir)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fixo por rodada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 + 2 min (abrir, gerar, salvar)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5321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6EFE2"/>
          </a:solidFill>
          <a:ln w="12700">
            <a:solidFill>
              <a:srgbClr val="F6EF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960120" y="5715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considerado: 120 funcionários por rodada mensal. As premissas de tempo são estimativas de operação, não medições cronometradas — se o seu volume ou ritmo for outro, troque os números na fórmula acima.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TEMPO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rodada mensal, antes e depois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91640"/>
            <a:ext cx="3913632" cy="1280160"/>
          </a:xfrm>
          <a:prstGeom prst="roundRect">
            <a:avLst>
              <a:gd name="adj" fmla="val 7143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09560" y="1746504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AA7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h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4780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o custo manual da rodada completa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3172968"/>
            <a:ext cx="3913632" cy="1280160"/>
          </a:xfrm>
          <a:prstGeom prst="roundRect">
            <a:avLst>
              <a:gd name="adj" fmla="val 7143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909560" y="3227832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h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39593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custo com as duas ferramentas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35240" y="4654296"/>
            <a:ext cx="3913632" cy="1280160"/>
          </a:xfrm>
          <a:prstGeom prst="roundRect">
            <a:avLst>
              <a:gd name="adj" fmla="val 7143"/>
            </a:avLst>
          </a:prstGeom>
          <a:solidFill>
            <a:srgbClr val="F6EFE2"/>
          </a:solidFill>
          <a:ln w="12700">
            <a:solidFill>
              <a:srgbClr val="F6EFE2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909560" y="4709160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8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21 h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5440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devolvidas a cada rodada mensal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cerca de 80% do tempo gasto no fechamento — e o tempo que sobra é de conferência, não de digitação.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9B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TEMPO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significa no dia de trabalho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2E3A73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057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B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hora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852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dia útil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7355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21 horas da rodada, diluídas nos 21 dias úteis do mês.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7408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2E3A73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0016" y="2057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B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2,6 dias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700016" y="2852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00016" y="327355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dois dias inteiros de trabalho devolvidos a cada fechamento.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74736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2E3A73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67344" y="2057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B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31 dias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67344" y="2852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67344" y="327355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250 horas — um mês e meio de trabalho útil ao longo de doze rodadas.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ganho que não aparece no relógio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2578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manual não é só digitação: é a conta de DSR feita de cabeça, o calendário consultado à mão para saber se o dia 14 caiu no sábado, a releitura para conferir se a falta era mesmo FALTA e não FALTA JUSTIFICADA. Cada uma dessas é uma chance de erro que vai para a folha de pagamento — e um erro achado depois custa muito mais que os minutos economizados aqui.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melhora além da velocidade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65376"/>
            <a:ext cx="512064" cy="51206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Conferência embutida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505456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compara o que leu com o que o documento declara e avisa quando discorda. No pior caso, volta ao número impresso — nunca a um número menor em silêncio.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1865376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rastreável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505456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dias que não contaram ficam escritos na planilha detalhada. Dá para explicar cada número sem reabrir o PDF.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58768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151376"/>
            <a:ext cx="512064" cy="512064"/>
          </a:xfrm>
          <a:prstGeom prst="ellipse">
            <a:avLst/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151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escrita, não lembrada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791456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vive num arquivo em português simples, ligado à função que a aplica. Não depende de quem estava no setor no mês passado.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858768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4151376"/>
            <a:ext cx="512064" cy="51206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4151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sensível protegido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791456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sai do computador. Atestado médico é dado pessoal sensível de saúde, e o processamento local resolve isso na raiz.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788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suíte de testes roda a cada envio de código e confere, entre outras coisas, que o site não faz nenhuma requisição externa.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não está resolvido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tudo anotado em docs/LIMITACOES_CONHECIDAS.md e nas pendências de cada regra. Vale conhecer antes de confiar cegamente em um número.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1207008"/>
          </a:xfrm>
          <a:prstGeom prst="roundRect">
            <a:avLst>
              <a:gd name="adj" fmla="val 7576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432304"/>
            <a:ext cx="530352" cy="530352"/>
          </a:xfrm>
          <a:prstGeom prst="ellipse">
            <a:avLst/>
          </a:prstGeom>
          <a:solidFill>
            <a:srgbClr val="78859B"/>
          </a:solidFill>
          <a:ln w="12700">
            <a:solidFill>
              <a:srgbClr val="78859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4323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27632" y="226771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 dividido em duas páginas do PDF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27632" y="2615184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cada página vira uma linha. Quando isso acontece, os dias precisam ser juntados pelo CPF antes das regras — senão a mesma semana conta duas vezes e a regra de mês inteiro nunca dispara.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10881360" cy="1207008"/>
          </a:xfrm>
          <a:prstGeom prst="roundRect">
            <a:avLst>
              <a:gd name="adj" fmla="val 7576"/>
            </a:avLst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32688" y="3822192"/>
            <a:ext cx="530352" cy="530352"/>
          </a:xfrm>
          <a:prstGeom prst="ellipse">
            <a:avLst/>
          </a:prstGeom>
          <a:solidFill>
            <a:srgbClr val="78859B"/>
          </a:solidFill>
          <a:ln w="12700">
            <a:solidFill>
              <a:srgbClr val="78859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3822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27632" y="36576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 contra PDF original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400507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arquivos recebidos até agora passaram por "Imprimir em PDF", que transforma o texto em desenho e não deixa nada para ler. A implementação foi validada contra um PDF sintético que reproduz o layout de produção; falta a rodada com um arquivo original.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882896"/>
            <a:ext cx="10881360" cy="1207008"/>
          </a:xfrm>
          <a:prstGeom prst="roundRect">
            <a:avLst>
              <a:gd name="adj" fmla="val 7576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  <a:effectLst>
            <a:outerShdw sx="100000" sy="100000" kx="0" ky="0" algn="bl" rotWithShape="0" blurRad="127000" dist="25400" dir="5400000">
              <a:srgbClr val="8FA0B5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5212080"/>
            <a:ext cx="530352" cy="530352"/>
          </a:xfrm>
          <a:prstGeom prst="ellipse">
            <a:avLst/>
          </a:prstGeom>
          <a:solidFill>
            <a:srgbClr val="78859B"/>
          </a:solidFill>
          <a:ln w="12700">
            <a:solidFill>
              <a:srgbClr val="7885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5212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504748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motores de detecção de atestado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27632" y="53949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dois caminhos de reconhecimento de ATM, com critérios diferentes. A divergência entre eles está descrita, junto com a medição que falta para decidir o que fazer — a orientação é não alterar contagem sem medir antes.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910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desses pontos derruba o uso diário. Eles estão escritos justamente para que ninguém descubra por acidente.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206240" cy="4206240"/>
          </a:xfrm>
          <a:prstGeom prst="ellipse">
            <a:avLst/>
          </a:prstGeom>
          <a:solidFill>
            <a:srgbClr val="2E3A73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9B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ferramentas que leem o documento por você — e conferem o próprio trabalho antes de entregar o número.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3995928"/>
            <a:ext cx="384048" cy="384048"/>
          </a:xfrm>
          <a:prstGeom prst="ellipse">
            <a:avLst/>
          </a:prstGeom>
          <a:solidFill>
            <a:srgbClr val="E9B563"/>
          </a:solidFill>
          <a:ln w="12700">
            <a:solidFill>
              <a:srgbClr val="E9B5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3977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Guardião Sepog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397764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PDF de frequências à planilha da folha, com atestado, falta, DSR e conferência contra o rodapé.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837176"/>
            <a:ext cx="384048" cy="384048"/>
          </a:xfrm>
          <a:prstGeom prst="ellipse">
            <a:avLst/>
          </a:prstGeom>
          <a:solidFill>
            <a:srgbClr val="E9B563"/>
          </a:solidFill>
          <a:ln w="12700">
            <a:solidFill>
              <a:srgbClr val="E9B5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837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4818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Infrequência SME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481888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planilha de ponto às duas planilhas finais, com R1 a R4 e o calendário do mês de referência.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678424"/>
            <a:ext cx="384048" cy="384048"/>
          </a:xfrm>
          <a:prstGeom prst="ellipse">
            <a:avLst/>
          </a:prstGeom>
          <a:solidFill>
            <a:srgbClr val="E9B563"/>
          </a:solidFill>
          <a:ln w="12700">
            <a:solidFill>
              <a:srgbClr val="E9B5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5678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56601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21 h por rodada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566013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uma hora por dia útil devolvida — e gasta em conferência, não em digitação.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Folha Facil - como funcionam as duas ferramentas</dc:title>
  <dc:subject>PptxGenJS Presentation</dc:subject>
  <dc:creator>Folha Facil</dc:creator>
  <cp:lastModifiedBy>Folha Facil</cp:lastModifiedBy>
  <cp:revision>1</cp:revision>
  <dcterms:created xsi:type="dcterms:W3CDTF">2026-09-20T01:06:58Z</dcterms:created>
  <dcterms:modified xsi:type="dcterms:W3CDTF">2026-09-20T01:06:58Z</dcterms:modified>
</cp:coreProperties>
</file>